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5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</a:rPr>
              <a:t>ENTERPRISE BACK-OFFICE PLATFORM
</a:t>
            </a:r>
          </a:p>
          <a:p>
            <a:r>
              <a:rPr sz="3600" b="1">
                <a:solidFill>
                  <a:srgbClr val="FFFFFF"/>
                </a:solidFill>
              </a:rPr>
              <a:t>IssueTrace: Operational Workflow &amp;
Financial Reconciliation Engine</a:t>
            </a:r>
          </a:p>
          <a:p>
            <a:pPr>
              <a:spcBef>
                <a:spcPts val="1600"/>
              </a:spcBef>
            </a:pPr>
            <a:r>
              <a:rPr sz="1500">
                <a:solidFill>
                  <a:srgbClr val="94A3B8"/>
                </a:solidFill>
              </a:rPr>
              <a:t>Comprehensive system walkthrough featuring dynamic visual DAG pipelines, zero-hardcoded database mirrors, multi-format staging, and Maker-Checker four-eyes governance.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846320"/>
            <a:ext cx="2450592" cy="1417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 lIns="146304" rIns="146304" bIns="146304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Visual DAG Studio
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No-code flowchart rule builder with instant pre-flight topology checks.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4448" y="4846320"/>
            <a:ext cx="2450592" cy="1417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 lIns="146304" rIns="146304" bIns="146304"/>
          <a:lstStyle/>
          <a:p>
            <a:pPr algn="ctr"/>
            <a:r>
              <a:rPr sz="1200" b="1">
                <a:solidFill>
                  <a:srgbClr val="FFFFFF"/>
                </a:solidFill>
              </a:rPr>
              <a:t>Universal Mirror Engine
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Dedicated UNLOGGED PostgreSQL mirrors for high-throughput batch joins.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4496" y="4846320"/>
            <a:ext cx="2450592" cy="1417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 lIns="146304" rIns="146304" bIns="146304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Four-Eyes Governance
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Anti-self-approval Maker-Checker dual authorization on discrepancy overrides.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24544" y="4846320"/>
            <a:ext cx="2450592" cy="1417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 lIns="146304" rIns="146304" bIns="146304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Multi-Format Ingestion
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Automated Excel, CSV, XML, and SFTP parser with rotating folder scanning.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55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900" b="1">
                <a:solidFill>
                  <a:srgbClr val="155DFC"/>
                </a:solidFill>
              </a:rPr>
              <a:t>LIVE OPERATIONAL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Operations Workspace &amp; High-Throughput Data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931920" cy="5029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r>
              <a:rPr sz="1200">
                <a:solidFill>
                  <a:srgbClr val="334155"/>
                </a:solidFill>
              </a:rPr>
              <a:t>The mission control center for operational analysts, providing real-time transaction ingestion, dynamic column visibility, and automated status evaluation.
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Real-Time Discrepancy Queue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Ingests batch files and presents transactions with immediate validation badges, error highlighting, and reconciliation state indicators.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Customizable Column Views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Dynamically toggles financial, identity, and timestamp columns with persistent local preference caching.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Batch &amp; Action Controls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Single-click execution of 'Run Validation', 'Force Re-run', 'Revert Task', and deep-link 'Discussion' threads.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Safe Task Scoping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Operates strictly within isolated task scopes to eliminate cross-session data leakage and erroneous overrides.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7176" y="1271016"/>
            <a:ext cx="6647688" cy="50932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operations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65379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55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900" b="1">
                <a:solidFill>
                  <a:srgbClr val="155DFC"/>
                </a:solidFill>
              </a:rPr>
              <a:t>AUDIT &amp;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Transaction Investigation &amp; Rule Trajectory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931920" cy="5029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r>
              <a:rPr sz="1200">
                <a:solidFill>
                  <a:srgbClr val="334155"/>
                </a:solidFill>
              </a:rPr>
              <a:t>Granular row-level forensic inspection displaying immutable execution histories, rule evaluation verdicts, and downstream pipeline actions.
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Multi-Stage Trajectory Tracker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Inspects sequential workflow verdicts (PASS, FAIL, ERROR) mapped directly to pipeline steps (CONTINUE, STOP, FLAG).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External Mirror Verification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Cross-references source Excel/CSV feeds directly against PostgreSQL unlogged target mirrors with nanosecond latency.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Targeted Override Actions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Enables authorized operators to propose manual resolutions or close individual transaction cases without closing entire batches.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Immutable Audit Trail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Snapshots all query parameters, timestamps, and operator identities for banking compliance and regulatory audits.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7176" y="1271016"/>
            <a:ext cx="6647688" cy="50932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investigation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65379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55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900" b="1">
                <a:solidFill>
                  <a:srgbClr val="155DFC"/>
                </a:solidFill>
              </a:rPr>
              <a:t>WORKFLOW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Workflow Studio: Drag-and-Drop Visual DAG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931920" cy="5029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r>
              <a:rPr sz="1200">
                <a:solidFill>
                  <a:srgbClr val="334155"/>
                </a:solidFill>
              </a:rPr>
              <a:t>Enables operational administrators to design complex multi-database reconciliation pipelines visually without writing single lines of code.
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Intuitive Flowchart Canvas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Drag and drop terminal nodes (Start, End) and modular validation blocks with interactive wiring and visual alignment.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Real-Time Pre-Flight Check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Continuously validates pipeline topology, orphan nodes, cycles, and disconnections before staging to production.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Dual Execution Modes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Supports seamless toggle between dark/light canvas themes, list representations, and flowchart representations.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Enterprise PostgreSQL Persistence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Directly persists complete DAG structures into PostgreSQL workflow repositories for reproducible executions.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7176" y="1271016"/>
            <a:ext cx="6647688" cy="50932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workflow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65379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55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900" b="1">
                <a:solidFill>
                  <a:srgbClr val="155DFC"/>
                </a:solidFill>
              </a:rPr>
              <a:t>RULE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Modular Validation Box Engine &amp; Query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931920" cy="5029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r>
              <a:rPr sz="1200">
                <a:solidFill>
                  <a:srgbClr val="334155"/>
                </a:solidFill>
              </a:rPr>
              <a:t>Encapsulates external database existence checks, column comparisons, and report generation into reusable, testable building blocks.
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Four Core Box Architectures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Search &amp; Ingest, Reconciliation, Condition Check, and Report Output blocks designed for high-reusability.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Zero-Hardcoded Field Mapping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Routes physical column criteria dynamically through the Global Standard Directory and table mappings.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Interactive Sandbox Testing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Run dry-run unit tests directly from the library cards against sample rows before publishing to shared teams.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Universal Hashtag Binding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Tag validation blocks with hashtags (e.g. #team-cards, #settlement) for automatic team discovery and reuse.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7176" y="1271016"/>
            <a:ext cx="6647688" cy="50932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validation_bo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65379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55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900" b="1">
                <a:solidFill>
                  <a:srgbClr val="155DFC"/>
                </a:solidFill>
              </a:rPr>
              <a:t>DATA INTEGRITY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Database Column Rules &amp; Conditional Duplicate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931920" cy="5029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r>
              <a:rPr sz="1200">
                <a:solidFill>
                  <a:srgbClr val="334155"/>
                </a:solidFill>
              </a:rPr>
              <a:t>State-of-the-art multi-column rule studio establishing partition grouping keys and conditional row filters to eliminate false-positive duplicate alerts.
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Common Grouping Partition Keys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Groups transaction streams by common correlation keys (e.g. TR_GROUP_ID) rather than inspecting flat rows.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Conditional Row Filter Builder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Specifies targeted leg criteria (e.g. BO_TYPE = 'CMTP254') using operators (=, !=, IN, LIKE, &gt;, &lt;, &gt;=, &lt;=).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Filtered Occurrence Counting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Counts only the rows satisfying criteria within each partition group and evaluates thresholds (COUNT = 1).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Multi-Leg Integrity Guarantee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Prevents legitimate multi-leg transactions from being falsely flagged as duplicate payments.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7176" y="1271016"/>
            <a:ext cx="6647688" cy="50932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duplicate_filter_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65379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55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900" b="1">
                <a:solidFill>
                  <a:srgbClr val="155DFC"/>
                </a:solidFill>
              </a:rPr>
              <a:t>INGESTION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Multi-Format FTP/SFTP Staging &amp; Prepared 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931920" cy="5029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r>
              <a:rPr sz="1200">
                <a:solidFill>
                  <a:srgbClr val="334155"/>
                </a:solidFill>
              </a:rPr>
              <a:t>High-performance ingestion engine capable of exploring remote server folder hierarchies, extracting complex file formats, and loading unlogged mirror tables.
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Comprehensive File Format Support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Parses Excel (.xlsx, .xls), CSV, XML, and fixed-width TXT settlement files effortlessly.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Dynamic Rotating Date Folders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Auto-discovers rotating calendar paths (e.g. /2026/sep/...) using dynamic wildcard pattern matching.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Multi-Row Header &amp; Merge Support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Handles complex banking spreadsheets with merged titles, metadata headers, and hierarchical sub-tables.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Scheduled Automated Ingestion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Runs background polling schedules to extract and stage unsettled feeds ready for pipeline validation.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7176" y="1271016"/>
            <a:ext cx="6647688" cy="50932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_ftp_stag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65379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55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900" b="1">
                <a:solidFill>
                  <a:srgbClr val="155DFC"/>
                </a:solidFill>
              </a:rPr>
              <a:t>EXECUTIVE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Managerial Analytics &amp; Real-Time SLA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931920" cy="5029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r>
              <a:rPr sz="1200">
                <a:solidFill>
                  <a:srgbClr val="334155"/>
                </a:solidFill>
              </a:rPr>
              <a:t>Strategic executive command center displaying operator velocity, resolution ratios, SLA breach alerts, and historical reconciliation trends.
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Executive KPI Metric Cards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Instant metrics on Personal Workload, Global Throughput, Four-Eyes Governance, and Intake Flow.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Weekly Case Trend Analysis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Visual trendline comparing newly detected discrepancies against completed resolutions over time.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SLA Breach Prevention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Real-time alerts identifying high-risk aging cases before exceeding service-level agreement thresholds.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One-Click Audit CSV Export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Generates consolidated audit reports for regulatory inspectors and operations review boards.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7176" y="1271016"/>
            <a:ext cx="6647688" cy="50932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managerial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65379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55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900" b="1">
                <a:solidFill>
                  <a:srgbClr val="155DFC"/>
                </a:solidFill>
              </a:rPr>
              <a:t>COLLABORATION &amp; DUAL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Team Workspace, Discussions &amp; Maker-Checker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931920" cy="5029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r>
              <a:rPr sz="1200">
                <a:solidFill>
                  <a:srgbClr val="334155"/>
                </a:solidFill>
              </a:rPr>
              <a:t>Empowers distributed operational squads with integrated discussion channels, universal hashtag tracking, and strict anti-self-approval dual controls.
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Team Escalation Channels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In-context chat rooms bound to operational hashtags (#AIB_SETTLEMENT) for rapid squad coordination.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Maker-Checker Dual Authorization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Mandatory Four-Eyes Principle: operators who propose manual discrepancy fixes cannot approve their own requests.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Peer Review Audit Pipeline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Stage discrepancy overrides (FORCE_MATCH, WRITE_OFF) into review queues with immutable snapshots of source evidence.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Direct Personal Messaging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Secure operator-to-operator communication with instant notifications and unread badge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7176" y="1271016"/>
            <a:ext cx="6647688" cy="50932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team_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65379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55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900" b="1">
                <a:solidFill>
                  <a:srgbClr val="155DFC"/>
                </a:solidFill>
              </a:rPr>
              <a:t>ENTERPRISE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System Administration, Granular RBAC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931920" cy="5029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r>
              <a:rPr sz="1200">
                <a:solidFill>
                  <a:srgbClr val="334155"/>
                </a:solidFill>
              </a:rPr>
              <a:t>Centralized administrative console enforcing least-privilege role-based access, production DML approval barriers, and enterprise credential isolation.
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Multi-Tier Role Privileges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Strict division of capabilities across Admin, Operational, Technical, and Supervisor roles.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Production DML Gates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Requires supervisor approval before executing any write/update statements against external banking databases.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Centralized Enterprise OAuth 2.0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Secures Entra ID / Microsoft 365 and Google Workspace credentials at Admin tier with masked client secrets.</a:t>
            </a:r>
          </a:p>
          <a:p>
            <a:pPr>
              <a:spcBef>
                <a:spcPts val="1200"/>
              </a:spcBef>
            </a:pPr>
            <a:r>
              <a:rPr sz="1150" b="1">
                <a:solidFill>
                  <a:srgbClr val="155DFC"/>
                </a:solidFill>
              </a:rPr>
              <a:t>•  Real-Time Database Health
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34155"/>
                </a:solidFill>
              </a:rPr>
              <a:t>   Live connectivity monitoring across core transaction databases with execution logging and socket distribution.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7176" y="1271016"/>
            <a:ext cx="6647688" cy="50932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9_admin_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65379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155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/>
            <a:r>
              <a:rPr sz="900" b="1">
                <a:solidFill>
                  <a:srgbClr val="93C5FD"/>
                </a:solidFill>
              </a:rPr>
              <a:t>TECHNICAL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200" b="1">
                <a:solidFill>
                  <a:srgbClr val="F1F5F9"/>
                </a:solidFill>
              </a:rPr>
              <a:t>Platform Architecture &amp; Engineering Standards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1417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 lIns="128016" rIns="128016" bIns="128016"/>
          <a:lstStyle/>
          <a:p>
            <a:pPr algn="ctr"/>
            <a:r>
              <a:rPr sz="1200" b="1">
                <a:solidFill>
                  <a:srgbClr val="38BDF8"/>
                </a:solidFill>
              </a:rPr>
              <a:t>PostgreSQL Unlogged Mirrors
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94A3B8"/>
                </a:solidFill>
              </a:rPr>
              <a:t>Reconciliation queries execute against unlogged mirror tables (`mirror_{db}_{table}`), delivering sub-millisecond batch lookups while avoiding Write-Ahead Log (WAL) disk overhead.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1417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 lIns="128016" rIns="128016" bIns="128016"/>
          <a:lstStyle/>
          <a:p>
            <a:pPr algn="ctr"/>
            <a:r>
              <a:rPr sz="1200" b="1">
                <a:solidFill>
                  <a:srgbClr val="38BDF8"/>
                </a:solidFill>
              </a:rPr>
              <a:t>64-Bit Cryptographic Advisory Locks
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94A3B8"/>
                </a:solidFill>
              </a:rPr>
              <a:t>Derives 64-bit cryptographic bigint keys (`('x'||substr(md5($1),1,16))::bit(64)::bigint`) to eliminate birthday-paradox hash collisions during concurrent multi-user rollbacks.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90088"/>
            <a:ext cx="5120640" cy="1417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 lIns="128016" rIns="128016" bIns="128016"/>
          <a:lstStyle/>
          <a:p>
            <a:pPr algn="ctr"/>
            <a:r>
              <a:rPr sz="1200" b="1">
                <a:solidFill>
                  <a:srgbClr val="38BDF8"/>
                </a:solidFill>
              </a:rPr>
              <a:t>Bounded Composite Tuple SQL
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94A3B8"/>
                </a:solidFill>
              </a:rPr>
              <a:t>Dynamic rule SQL compiler sub-chunks queries exceeding 30,000 parameters to guarantee queries remain well below PostgreSQL `UINT16_MAX` (65,535) bounds.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990088"/>
            <a:ext cx="5120640" cy="1417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 lIns="128016" rIns="128016" bIns="128016"/>
          <a:lstStyle/>
          <a:p>
            <a:pPr algn="ctr"/>
            <a:r>
              <a:rPr sz="1200" b="1">
                <a:solidFill>
                  <a:srgbClr val="38BDF8"/>
                </a:solidFill>
              </a:rPr>
              <a:t>Diagnostic Taint Tracking
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94A3B8"/>
                </a:solidFill>
              </a:rPr>
              <a:t>Downstream stages isolate records flagged under `REPORT` action with `_isDiagnosticOnly: true`, ensuring non-blocking reporting without corrupting math.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08576"/>
            <a:ext cx="5120640" cy="1417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 lIns="128016" rIns="128016" bIns="128016"/>
          <a:lstStyle/>
          <a:p>
            <a:pPr algn="ctr"/>
            <a:r>
              <a:rPr sz="1200" b="1">
                <a:solidFill>
                  <a:srgbClr val="38BDF8"/>
                </a:solidFill>
              </a:rPr>
              <a:t>Central Global Standard Directory
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94A3B8"/>
                </a:solidFill>
              </a:rPr>
              <a:t>Eliminates hardcoded database references by mapping all physical table columns dynamically to canonical dictionary keys.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608576"/>
            <a:ext cx="5120640" cy="1417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 lIns="128016" rIns="128016" bIns="128016"/>
          <a:lstStyle/>
          <a:p>
            <a:pPr algn="ctr"/>
            <a:r>
              <a:rPr sz="1200" b="1">
                <a:solidFill>
                  <a:srgbClr val="38BDF8"/>
                </a:solidFill>
              </a:rPr>
              <a:t>React 19 Fault-Tolerant Frontend
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94A3B8"/>
                </a:solidFill>
              </a:rPr>
              <a:t>Workspace views wrapped in React `&lt;ErrorBoundary&gt;` containers with JSONB stringification helpers to guarantee zero full-page white-screen unmounts.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5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</a:rPr>
              <a:t>BUSINESS IMPACT &amp; OPERATIONAL EXCELLENCE
</a:t>
            </a:r>
          </a:p>
          <a:p>
            <a:r>
              <a:rPr sz="3000" b="1">
                <a:solidFill>
                  <a:srgbClr val="FFFFFF"/>
                </a:solidFill>
              </a:rPr>
              <a:t>Transforming Back-Office Settlement &amp; Discrepancy Triage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94A3B8"/>
                </a:solidFill>
              </a:rPr>
              <a:t>IssueTrace delivers automated accuracy, auditable controls, and accelerated turnaround times across high-volume financial transaction ecosystems.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566160"/>
            <a:ext cx="3328416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1168" lIns="201168" rIns="201168" bIns="201168"/>
          <a:lstStyle/>
          <a:p>
            <a:pPr algn="ctr"/>
            <a:r>
              <a:rPr sz="3600" b="1">
                <a:solidFill>
                  <a:srgbClr val="38BDF8"/>
                </a:solidFill>
              </a:rPr>
              <a:t>98.4%
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Automated Reconciliation
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94A3B8"/>
                </a:solidFill>
              </a:rPr>
              <a:t>Replaces manual spreadsheet lookups with instantaneous batch SQL compilation and unlogged mirror joins.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3566160"/>
            <a:ext cx="3328416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1168" lIns="201168" rIns="201168" bIns="201168"/>
          <a:lstStyle/>
          <a:p>
            <a:pPr algn="ctr"/>
            <a:r>
              <a:rPr sz="3600" b="1">
                <a:solidFill>
                  <a:srgbClr val="38BDF8"/>
                </a:solidFill>
              </a:rPr>
              <a:t>100%
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Audit &amp; Dual Control Compliance
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94A3B8"/>
                </a:solidFill>
              </a:rPr>
              <a:t>Guarantees zero unauthorized balance write-offs through strict cryptographic locks and Four-Eyes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36992" y="3566160"/>
            <a:ext cx="3328416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1168" lIns="201168" rIns="201168" bIns="201168"/>
          <a:lstStyle/>
          <a:p>
            <a:pPr algn="ctr"/>
            <a:r>
              <a:rPr sz="3600" b="1">
                <a:solidFill>
                  <a:srgbClr val="38BDF8"/>
                </a:solidFill>
              </a:rPr>
              <a:t>10x
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Investigation Turnaround
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94A3B8"/>
                </a:solidFill>
              </a:rPr>
              <a:t>Enables operations squads to trace root-cause discrepancies in seconds using unified multi-stage trajectories.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