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5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8BDF8"/>
                </a:solidFill>
              </a:rPr>
              <a:t>ENTERPRISE OPERATIONAL WORKFLOW &amp; RECONCILIATION PLATFORM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400"/>
              </a:spcBef>
            </a:pPr>
            <a:r>
              <a:rPr sz="3400" b="1">
                <a:solidFill>
                  <a:srgbClr val="FFFFFF"/>
                </a:solidFill>
              </a:rPr>
              <a:t>IssueTrace: User Guide &amp; System Walkthrough</a:t>
            </a:r>
            <a:endParaRPr sz="3400" b="1">
              <a:solidFill>
                <a:srgbClr val="FFFFFF"/>
              </a:solidFill>
            </a:endParaRPr>
          </a:p>
          <a:p>
            <a:pPr>
              <a:spcBef>
                <a:spcPts val="1200"/>
              </a:spcBef>
            </a:pPr>
            <a:r>
              <a:rPr sz="1350">
                <a:solidFill>
                  <a:srgbClr val="94A3B8"/>
                </a:solidFill>
              </a:rPr>
              <a:t>An end-to-end visual manual for back-office settlement analysts, investigation technicians, squad leads, and compliance authorities. Designed for automated multi-source reconciliation, zero-hardcoded schema mappings, forensic transaction tracking, and strict Maker-Checker dual authorization.</a:t>
            </a:r>
            <a:endParaRPr sz="1350">
              <a:solidFill>
                <a:srgbClr val="94A3B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2450592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Automated Ingestion
</a:t>
            </a:r>
            <a:endParaRPr sz="1200" b="1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Ingest multi-format files (Excel, CSV, XML), SFTP schedules, and direct partner intake queues.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84448" y="4754880"/>
            <a:ext cx="2450592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Visual DAG Pipelines
</a:t>
            </a:r>
            <a:endParaRPr sz="1200" b="1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Assemble modular validation rules visually with instant pre-flight topology checks.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54496" y="4754880"/>
            <a:ext cx="2450592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2-Level Investigation
</a:t>
            </a:r>
            <a:endParaRPr sz="1200" b="1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Forensic transaction trajectory tracing paired with deep cross-system database lookup.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24544" y="4754880"/>
            <a:ext cx="2450592" cy="1508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Maker-Checker Dual Control
</a:t>
            </a:r>
            <a:endParaRPr sz="1200" b="1">
              <a:solidFill>
                <a:srgbClr val="FFFFFF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Enforce strict anti-self-approval on all financial resolutions and discrepancy overrides.</a:t>
            </a:r>
            <a:endParaRPr sz="9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ARCHITECTURE &amp; FLOW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End-to-End Operational Lifecycle &amp; Flow Architecture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Complete journey from raw feed staging to permanent reconciliation and sign-off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IssueTrace orchestrates financial settlement through five deterministic stages, eliminating manual data handling and isolating data discrepancies.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 1: Multi-Channel Ingress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Extracts settlement data from SFTP, batch Excel/CSV, webhooks, or email intake queues into staging.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 2: Schema Normalization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Maps external columns to canonical directory fields and normalizes status values via dictionaries.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 3: DAG Pipeline Validation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Executes multi-step rule checks (existence, matching amounts, duplicate detection) in isolated unlogged mirrors.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 4: Discrepancy Investigation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Flags mismatched records into technician queues for forensic root-cause analysis and compare-and-resolve.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 5: Maker-Checker Governance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Routes proposed overrides through dual authorization before committing final resolutions.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Follow this lifecycle sequentially when onboarding new settlement partners or troubleshooting transaction discrepancies.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4_end_to_end_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REQUEST MANAGEMENT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Intake Cockpit: External Request Ingress &amp; Triage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Centralized inbox capturing inbound requests across email, webhooks, and partner channels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The Intake Cockpit captures external settlement requests, dispute notices, and batch files, applying automated AI triage before task creation.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Multi-Channel Consolidation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Unifies inbound messages from Microsoft 365, Zoho Mail, SFTP notifications, and banking webhooks.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AI Categorization &amp; Urgency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Automatically classifies requests (Reconciliation Exception, Chargeback, Fee Discrepancy) with confidence scores.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Interactive Paginated Queue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Docked pagination controls (7 items per page default) with fast keyword search and status filters.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1-Click Task Conversion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Operators can review raw payloads, inspect file attachments, and convert staged requests directly into operational cases.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Filter by 'Ready for task' and sort by Urgency = 'Critical' at the start of your shift to triage urgent settlement exceptions first.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9_intak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DATA INGESTION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Remote SFTP File Staging &amp; Ingestion Automation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Scheduled extraction, rotating date navigation, and multi-format sheet parsing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Automates the retrieval and ingestion of banking settlement files from remote SFTP servers, eliminating manual file downloads.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Dynamic Rotating Date Folders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Auto-discovers calendar subfolders (e.g., /2026/sep/...) using dynamic wildcard matching.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Multi-Format Spreadsheet Parsing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Seamlessly parses multi-sheet Excel (.xlsx, .xls), CSV, XML, and fixed-width text files.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Header &amp; Offset Detection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Accommodates merged report titles, banner metadata, and variable starting header rows effortlessly.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Unlogged Mirror Tables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Loads raw data directly into typed PostgreSQL unlogged mirror tables for ultra-fast processing.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Configure automated polling schedules on the SFTP configuration card so morning clearing files are staged before your squad arrives.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_file_stag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DATA SETUP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Global Data Directory &amp; Physical Column Mapping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Agnostic dictionary architecture decoupling database schemas from workflow rules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The Global Standard Directory provides a canonical dictionary layer that shields business rules from physical column naming differences.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Zero Hardcoded Field Names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Physical database columns (e.g., `TXN_AMT`, `AMOUNT_CENTS`) map dynamically to canonical keys (`amount`).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Cross-System Portability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Workflows referencing canonical keys run seamlessly across diverse bank core databases without rewriting SQL.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Visual Mapping Workbench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Interactive drag-and-drop or dropdown column mapping with immediate validation of data types.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Database Scoping &amp; Isolation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Maintains distinct column configurations per external connection, preventing schema collisions.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Always map required reconciliation columns (Transaction ID, Amount, Timestamp, Status) before activating a new database connection.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data_mapp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DATA HARMONIZATION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Value Dictionary Workbench &amp; Code Harmonization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Standardizing heterogeneous response codes into uniform operational statuses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Normalizes disparate status codes from payment switches, core banking engines, and partner networks into standardized business statuses.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Canonical Term Normalization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Translates diverse codes (`00`, `APPR`, `APPROVED`, `PAID`) into a single canonical `SUCCESS` status.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Failure &amp; Decline Mapping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Maps switch decline codes (`51` = Insufficient Funds, `54` = Expired Card) to uniform investigation categories.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Multi-Dictionary Support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Create specialized dictionary profiles for Card Networks, ACH Clearing, and Core Banking feeds.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Instant Rule Integration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Validation boxes utilize dictionary lookups directly, simplifying rule definitions.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Define default fallback values in your value dictionaries to capture unrecognized codes as 'UNKNOWN_EXCEPTION' for review.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7_new_value_diction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DATA PREPARATION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Data Transformations &amp; Calculated Expression Studio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On-the-fly arithmetic scaling, string formatting, and SQL expression transformations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Allows operators to apply mathematical, string, and temporal transformations to raw input data before reconciliation rules execute.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Currency &amp; Scale Conversions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Converts integer minor currency units (cents, cents-to-dollars) into decimal representations.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String Cleansing &amp; Trimming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Strips special characters, trailing spaces, and standardizes account formatting for clean matching.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Dynamic SQL Expression Builder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Craft custom expressions (e.g., `CASE WHEN type = 'CR' THEN amount * -1 ELSE amount END`).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Pre-Execution Preview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Tests transformation formulas against sample records to verify calculation accuracy before saving.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Apply amount scaling transformations in the preparation step to ensure input currencies align exactly with core banking ledgers.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_transforma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DAILY OPERATIONS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Operations Workspace &amp; High-Throughput Case Grid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Mission control for settlement analysts to track, filter, and inspect transaction batches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The primary working environment for analysts, providing real-time transaction ingestion, status indicators, and batch action controls.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Real-Time Discrepancy Queue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Ingests batch records and displays validation badges, error classifications, and match states.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Customizable Column Visibility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Toggle financial, account, fee, and timestamp columns with persistent user preference storage.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Multi-Dimensional Filtering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Filter instantly by status (New, Processing, Discrepancy), currency, partner institution, or date range.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One-Click Batch Execution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Trigger validation runs, force re-runs on staged items, revert tasks, or export audit CSV reports with a single click.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Customize your visible columns to keep Transaction ID, Amount, Status, and Error Verdict in view for quick scanning.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cases_workspa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CASE CREATION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Staging New Cases &amp; Pipeline Assignment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Uploading raw settlement batches, attaching validation pipelines, and initiating runs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Provides an intuitive modal interface to upload new reconciliation files, assign execution pipelines, and configure batch metadata.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Drag-and-Drop Batch Upload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Drop raw Excel, CSV, or TXT settlement files directly into the upload dropzone.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Pipeline &amp; Workflow Binding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Select from available visual DAG workflows (e.g., Daily Settlement, Card Interchange Reconciliation).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Database Scope Selection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Explicitly choose the target database connection and core ledger table to reconcile against.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Execution Policy Configuration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Set batch priorities (Urgent, Standard) and choose whether to auto-run validation immediately.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Verify the target database connection before submitting the staging modal to ensure reconciliation matches the correct core ledger.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1_new_case_uploa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EXECUTION ENGINE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Real-Time Pipeline Execution &amp; Progress Monitoring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Live telemetry, stage progress milestones, and non-blocking asynchronous processing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Tracks active validation execution in real time with visual progress milestones, stage transitions, and execution telemetry.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Non-Blocking Background Processing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Executes multi-thousand transaction batches asynchronously without freezing the user interface.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Stage-by-Stage Milestone Bars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Displays progress across Ingestion, Rule Evaluation, Mirror Reconciliation, and Output Reporting.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Live Counter Telemetry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Monitors processed records, passing transactions, detected discrepancies, and syntax errors in real time.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Safe Task Cancellation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Operators can pause or terminate running batches if an incorrect file was uploaded.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You can navigate freely across other workspaces while a batch executes; progress will continue and notify you upon completion.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2_investigation_run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FORENSIC INVESTIGATION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Transaction Forensics &amp; Sequential Rule Trajectory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Row-level deep inspection detailing input data, mirror records, and rule evaluation verdicts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Opening any transaction launches the forensic drawer, revealing the exact sequence of rules evaluated and their outcomes.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Sequential Trajectory Audit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Traces step-by-step verdicts (PASS, FAIL, ERROR) mapped directly to pipeline actions (CONTINUE, STOP, FLAG).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Source vs. Mirror Payload Inspection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Compare raw ingested fields side-by-side with database mirror records down to the microsecond.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Execution Latency &amp; Metadata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Inspect execution duration, evaluated SQL criteria, and parameter values for each validation step.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Direct Action Triggers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Launch deep compare-and-resolve, initiate team discussions, or stage resolution proposals directly from the drawer.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Click on any failed step in the trajectory list to view the exact SQL criteria and parameter bounds evaluated by the engine.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transaction_draw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ADVANCED ANALYSIS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Two-Level Discrepancy Investigation Workflow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Hierarchical forensic analysis: batch coordinate checks vs. deep core ledger lookups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Separates investigation into Level 1 (batch coordinate validation) and Level 2 (deep core banking ledger reconciliation).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Level 1: Batch Coordinate Audit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Validates row coordinate integrity, batch sum totals, file headers, and internal transaction references.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Level 2: Deep Core Banking Lookup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Executes batched tuple queries against external core banking ledgers to detect missing settlements.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Clear Investigation Statuses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Tracks investigation progress: Uninvestigated, In Progress, Discrepancy Confirmed, Resolved.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Root Cause Categorization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Classify root causes: Timing Difference, Network Dropout, Fee Miscalculation, or Legitimate Fraud.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Complete Level 1 checks first; if internal coordinates match, escalate to Level 2 deep lookup to identify external ledger mismatches.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9_case_two_levels_investig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DISCREPANCY RESOLUTION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Compare &amp; Resolve: Side-by-Side Discrepancy Reconciliation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Visual field-level comparison, discrepancy highlighting, and resolution proposal staging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The Compare &amp; Resolve workbench gives technicians a visual diff between the source record and core ledger, enabling manual resolution proposals.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Field-by-Field Visual Diff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Highlights mismatched fields in bold amber/red (e.g., Ingested $1,500.00 vs. Core Ledger $1,450.00).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Automated Resolution Options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Select from standardized operational resolutions: Force Match, Write-Off, Manual Reversal, or Reject.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Mandatory Justification Notes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Technicians must provide detailed rationale and operational notes before submitting a proposal.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Snapshot Locking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Locks transaction state in `PENDING_CHECKER_REVIEW` with an immutable evidence snapshot for auditability.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Always attach the core banking reference number in the resolution notes to assist the Checker during dual-control review.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3_compare_and_resol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PIPELINE ENGINEERING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Workflow Studio: Visual Flowchart DAG Pipeline Builder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No-code visual canvas to design, wire, and persist multi-stage reconciliation pipelines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Workflow Studio allows administrators and engineers to construct sophisticated reconciliation pipelines visually without writing code.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Interactive Flowchart Canvas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Drag and drop Start, End, and modular validation nodes; connect ports with visual SVG bezier curves.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Instant Pre-Flight Topology Validator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Validates graph topology continuously, alerting on disconnected nodes, orphan branches, or infinite loops.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Database &amp; Stage Scoping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Assign target databases and cardinality policies (Single Row, Multi-Row Aggregate) per stage.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PostgreSQL Relational Persistence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Stores pipeline definitions directly in PostgreSQL tables for reproducible, version-controlled execution.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Click 'Validate Graph' in the canvas toolbar before saving to ensure all nodes and branch conditions are wired properly.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workflow_stud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RULE ARCHITECTURE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Modular Validation Rules Library &amp; Sandbox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Reusable validation building blocks with built-in interactive unit testing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 centralized repository of tested validation building blocks that can be dragged into any workflow canvas across the organization.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Four Canonical Box Types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Strictly structured into Ingestion Search, Condition Check, Reconciliation, and Report Output blocks.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Standardized Rule Templates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Pre-built templates for ISO Decline Codes, Existence Checks, Amount Thresholds, and Date Consistency.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Interactive Sandbox Testing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Run dry-run unit tests directly from the library cards against live sample rows before publishing.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Universal Hashtag Tagging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Tag validation boxes with hashtags (e.g., #card-reconciliation) for instant discovery across squads.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Test any newly configured validation rule in the dry-run sandbox before adding it to an active production pipeline.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rules_libr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INTEGRITY RULES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Multi-Leg Transaction Rules &amp; Duplicate Elimination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Advanced partition grouping keys and conditional row criteria to eliminate false duplicates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Solves the challenge of complex multi-leg payments by grouping transactions by partition keys and filtering occurrences conditionally.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Common Partition Grouping Keys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Groups transactions by correlation keys (e.g., `TR_GROUP_ID`, `SESSION_ID`) rather than flat row evaluation.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Conditional Leg Criteria Builder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Specifies distinct criteria for specific transaction legs (e.g., `BO_TYPE = 'CMTP254'`) using standard operators.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Filtered Occurrence Counting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Counts only the rows satisfying leg criteria within each partition group and evaluates thresholds (`COUNT = 1`).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Multi-Leg Integrity Guarantee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Eliminates false-positive duplicate alerts on legitimate multi-leg transfers and currency exchanges.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When configuring duplicate checks on multi-leg transfers, specify the unique transaction group identifier as the partition key.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duplicate_check_buil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PROCESS AUTOMATION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Automations: Event Triggers &amp; Scheduled Batch Jobs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Configuring cron schedules, event triggers, automated notifications, and auto-triage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Automates recurring operational tasks, file polling, and reconciliation runs with configurable cron expressions and event listeners.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Flexible Trigger Types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Trigger workflows based on cron schedules (e.g., every morning at 06:00 AM), file arrivals, or webhook events.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Automated Squad Routing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Auto-assigns newly generated cases to specific squads (Cards, Settlement, Dispute Desk) based on criteria.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SLA Breach Alerting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Triggers high-priority notifications when aging cases approach SLA expiration thresholds.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Execution History &amp; Audit Log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Maintains complete run history with success/failure statuses, error traces, and execution durations.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Enable email or Teams notifications on mission-critical automation jobs so squad leads are notified of any polling interruptions.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automatio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TECHNICAL ANALYSIS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Query Sandbox &amp; Database Explorer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Safe read-only SQL workbench for ad-hoc transaction queries and data schema inspection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Empowers technicians and database administrators to inspect database schemas and run ad-hoc read-only queries safely.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Safe Read-Only Guardrails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Strictly enforces `SELECT` operations; mutating statements (UPDATE, DELETE, DROP) are blocked automatically.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Multi-Database Connection Switcher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Query across Core Banking, Switch Archives, and Staged Mirror tables from a single workbench.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SQL Syntax Highlighting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Modern editor with auto-completion, keyword coloring, line numbering, and query formatting.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Projected Results &amp; CSV Export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Instant tabular data grid with execution timing, row counts, and one-click export for investigation evidence.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Use the Query Sandbox to verify customer account balances or check historical reference records during deep forensic investigations.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6_query_sand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SQUAD COLLABORATION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Team Tasks: Operational Kanban &amp; Task Tracking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Visual workflow board consolidating squad assignments, priorities, and SLA timers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Provides an operational Kanban board tracking cases across Backlog, In Progress, Peer Review, and Completed columns.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Visual Kanban Columns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Move cases across workflow states with clear priority indicators and assignee avatars.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Public Team Task Consolidation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Consolidates individual operator tasks into team-visible boards for balanced workload distribution.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Real-Time SLA Timers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Color-coded countdown badges alert squads to pending SLA breaches before deadlines are missed.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1-Click Workspace Navigation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Clicking any task card immediately navigates directly to that case in the operations workspace.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Review the Team Tasks board during daily standups to redistribute cases from overloaded operators to available squad members.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team_task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CUSTOMER OPERATIONS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Shared Team Mailbox &amp; Customer Dispute Triage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Unified multi-pane email client connecting directly to team mailboxes via OAuth 2.0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 dedicated dispute desk interface connecting to shared team mailboxes for handling inbound customer chargebacks and partner inquiries.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Multi-Pane Email Interface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Thread list on the left, full message history and attachment preview pane on the right.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Centralized OAuth 2.0 Security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Connects securely to Microsoft 365 or Google Workspace without exposing secrets to operators.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Attachment Ingestion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Extract and preview attached customer proof-of-payment receipts, bank letters, and chargeback claims.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Direct Case Creation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Convert email threads directly into operational reconciliation cases with full message history attached.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Use the 'Convert to Case' button in the message header to transform a dispute email into an active investigation task.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team_mailbo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IN-APP CHAT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Contextual Case Discussions &amp; Slash Directives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In-context messaging drawer supporting user mentions, squad tags, hashtags, and slash commands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Each case contains an integrated discussion drawer where operators collaborate in context without leaving the transaction screen.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Contextual Discussion Drawer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Chat history is permanently bound to the specific case ID for an immutable collaboration record.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Rich Mention Directives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Use `@username` to mention colleagues, `@@team` to notify entire squads, and `#hashtag` to link related workflows.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Slash Command Execution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Type `/create-escalate` to open an inter-team room or `/resolve` to initiate a resolution proposal.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Visual Badge Formatting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Mentions and directives are styled with distinct, colorful pill badges for maximum readability.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Tag the relevant squad using '@@team-cards' or '@@team-core-banking' when requesting cross-department transaction verification.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7_case_discuss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ESCALATION MANAGEMENT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Inter-Team Escalation Rooms &amp; Cross-Squad Collaboration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Dedicated shared rooms bridging operational squads to resolve complex discrepancies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When a discrepancy spans multiple departments (e.g., Settlement ↔ Core Banking), operators spawn dedicated Escalation Rooms.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Multi-Department Bridge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Creates a shared workspace uniting the escalating squad and receiving squad under a single ticket.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Frozen Evidence Snapshots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Both teams inspect the exact same immutable snapshot of transaction data and mirror records.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Real-Time Unified Chat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Full directive autocompletion (`@`, `@@`, `#`, `/`) ensures rapid cross-team communication.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Clear Squad Ownership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Explicit tracking of which squad currently holds the ball to prevent resolution delays.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Create an escalation room whenever a transaction error originates in an external system outside your squad's direct jurisdiction.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0_room_escalating_te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FORMAL SETTLEMENT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Escalation Agreements &amp; Mutual Resolution Commitments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Formalizing resolution terms with dual-team sign-off before closing tickets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To prevent premature case closures, IssueTrace requires formal Escalation Agreements with sign-offs from both squads.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Formal Agreement Terms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Documents agreed resolution steps (e.g., Ledger Adjustment, Chargeback Reversal, GL Write-Off).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Dual-Team Authorization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Requires verified approval from authorized leads of both squads before the case can close.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Immutable Audit Binding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Agreement text, timestamps, and approver identities are cryptographically recorded in the case history.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Automated Task Unblocking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Once both leads approve, the parent case automatically advances to resolved status.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Ensure the agreement terms clearly specify which team is executing the physical general ledger entry in the core banking system.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2_escalation_agree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KNOWLEDGE MANAGEMENT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Technician Solution Scripts &amp; Universal Hashtag Knowledge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Publishing and discovering reusable SQL remediation scripts via universal hashtags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Allows experienced technicians to capture SQL remediation scripts and publish them under universal hashtags for squad reuse.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Remediation Script Repository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Save tested SQL scripts that correct recurring settlement anomalies (e.g., orphaned authorization records).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Universal Hashtag Binding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Tag scripts with hashtags (e.g., `#AIB_SETTLEMENT_2026`) linking workflows, DAG nodes, and discussions.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Squad Knowledge Sharing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Junior analysts can discover and review vetted solutions authored by senior technicians.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Attribution &amp; Governance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Every script retains author attribution, revision timestamps, and safety execution notes.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Search the universal hashtag bar before troubleshooting an unfamiliar error to see if a verified solution script already exists.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0_solution_scrip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GOVERNANCE &amp; COMPLIANCE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Maker-Checker Dual Authorization &amp; Authority Center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Strict Four-Eyes Principle enforcing anti-self-approval on all financial overrides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The Authority Center enforces banking-grade governance, requiring two distinct operators to authorize any financial adjustment.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Strict Anti-Self-Approval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The maker who proposes an override cannot approve it (`makerId !== checkerId`); enforced at the API layer.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Pending Review Queue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Supervisors review proposed overrides (Force Match, Write-Off, Manual Reversal) with evidence snapshots.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Frozen Evidence Snapshots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Approvers inspect the exact transaction state, source values, and audit logs recorded when proposed.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Complete Audit Trail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All approval and rejection decisions are permanently logged with timestamps, comments, and operator credentials.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Supervisors should review the Approvals Inbox multiple times daily to prevent pending transaction batches from aging.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_approva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NOTIFICATION SYSTEM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Notification Center &amp; Multi-Channel Alert Matrix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Real-time alert popover, dedicated full-page inbox, and granular preference controls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A comprehensive notification system ensuring operators and leads never miss urgent SLA breaches, mentions, or approvals.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Top-Bar Popover &amp; Full Center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Quickly review notifications via the header bell popover or dive into the full tabbed notification center.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Filtered Categorization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Organized tabs: All Notifications, Unread, Mentions, SLA Alerts, and System Announcements.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Granular Channel Preferences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Customize delivery channels (In-App, Email, Push) independently for each notification category.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Immediate Deep Linking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Clicking any notification navigates directly to the relevant case, discussion thread, or approval review.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Set SLA breach alerts to both In-App and Email in your Notification Preferences to guarantee rapid response times.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6_notification_cen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EXECUTIVE REPORTING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Managerial Dashboard &amp; Executive SLA Analytics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High-level operational metrics, team throughput velocity, and reconciliation trends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Provides executives and operations heads with a centralized view of daily settlement volume, resolution velocity, and SLA adherence.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Executive KPI Summary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Real-time metrics: Total Inbound Volume, Open Discrepancies, Resolved Transactions, and SLA Compliance Rate.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Weekly Throughput Trends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Visual charts comparing incoming transaction volume against completed squad resolutions over time.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SLA Risk Monitoring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Identifies aging cases at risk of breach, allowing management to reassign resources proactively.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Regulatory CSV Export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Generate consolidated audit reports with a single click for financial regulators and internal compliance.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Export the monthly summary report on the 1st of each month for executive leadership reviews and compliance filings.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155DFC"/>
                </a:solidFill>
              </a:rPr>
              <a:t>SYSTEM ADMINISTRATION</a:t>
            </a:r>
            <a:endParaRPr sz="850" b="1">
              <a:solidFill>
                <a:srgbClr val="155DF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F172A"/>
                </a:solidFill>
              </a:rPr>
              <a:t>Enterprise Administration, RBAC &amp; Connection Security</a:t>
            </a:r>
            <a:endParaRPr sz="2000" b="1">
              <a:solidFill>
                <a:srgbClr val="0F172A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64748B"/>
                </a:solidFill>
              </a:rPr>
              <a:t>Granular role privileges, team connection isolation, and centralized OAuth 2.0 management</a:t>
            </a:r>
            <a:endParaRPr sz="1000">
              <a:solidFill>
                <a:srgbClr val="6474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977639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Ensures multi-tenant security and compliance through strict role-based access control, team isolation, and credential masking.
</a:t>
            </a:r>
            <a:endParaRPr sz="110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Granular Role Permissions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Assign distinct roles (Admin, Operations Analyst, Technician, Checker, Read-Only Auditor).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Team Connection Isolation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Database connections and mirror tables created within a squad are strictly isolated to authorized members.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Centralized OAuth 2.0 Management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Enterprise credentials (Client ID, Secrets) are maintained centrally at Admin level with masked secrets.</a:t>
            </a:r>
            <a:endParaRPr sz="950">
              <a:solidFill>
                <a:srgbClr val="334155"/>
              </a:solidFill>
            </a:endParaRP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155DFC"/>
                </a:solidFill>
              </a:rPr>
              <a:t>•  Audit Logging &amp; Health
</a:t>
            </a:r>
            <a:endParaRPr sz="1050" b="1">
              <a:solidFill>
                <a:srgbClr val="155DFC"/>
              </a:solidFill>
            </a:endParaRPr>
          </a:p>
          <a:p>
            <a:pPr>
              <a:spcBef>
                <a:spcPts val="100"/>
              </a:spcBef>
            </a:pPr>
            <a:r>
              <a:rPr sz="950">
                <a:solidFill>
                  <a:srgbClr val="334155"/>
                </a:solidFill>
              </a:rPr>
              <a:t>   Live connectivity monitoring across database endpoints with real-time socket health and execution logging.</a:t>
            </a:r>
            <a:endParaRPr sz="950">
              <a:solidFill>
                <a:srgbClr val="33415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3977639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850" b="1">
                <a:solidFill>
                  <a:srgbClr val="F27421"/>
                </a:solidFill>
              </a:rPr>
              <a:t>💡 USER ACTION GUIDE: </a:t>
            </a:r>
            <a:r>
              <a:rPr sz="850">
                <a:solidFill>
                  <a:srgbClr val="334155"/>
                </a:solidFill>
              </a:rPr>
              <a:t>Assign the 'Checker' role only to team leads and senior supervisors authorized to approve manual financial write-offs.</a:t>
            </a:r>
            <a:endParaRPr sz="850">
              <a:solidFill>
                <a:srgbClr val="334155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892040" y="1234440"/>
            <a:ext cx="6565392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people_acc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6904" y="2047684"/>
            <a:ext cx="6455664" cy="363131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560320" cy="25603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55D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93C5FD"/>
                </a:solidFill>
              </a:rPr>
              <a:t>OPERATIONAL SUMMARY</a:t>
            </a:r>
            <a:endParaRPr sz="850" b="1">
              <a:solidFill>
                <a:srgbClr val="93C5FD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F1F5F9"/>
                </a:solidFill>
              </a:rPr>
              <a:t>Daily User Workflow &amp; Reconciliation Best Practices</a:t>
            </a:r>
            <a:endParaRPr sz="2000" b="1">
              <a:solidFill>
                <a:srgbClr val="F1F5F9"/>
              </a:solidFill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94A3B8"/>
                </a:solidFill>
              </a:rPr>
              <a:t>Standard operating procedure for back-office teams</a:t>
            </a:r>
            <a:endParaRPr sz="1000">
              <a:solidFill>
                <a:srgbClr val="94A3B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1. Intake &amp; Staging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Review Intake queue for external requests; verify morning SFTP file staging completed successfully.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2. Pipeline Validation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Execute visual DAG workflows against staged settlement files; monitor progress milestones in real time.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990088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3. Discrepancy Review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Filter Operations Workspace for failed transactions; inspect row-level trajectory forensics in the drawer.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2990088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4. Compare &amp; Resolve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Open two-level investigation; visually diff against core banking ledger; propose structured resolution.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4608576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5. Squad Collaboration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Use in-case chat (`@user`, `@@team`, `/create-escalate`) or escalation rooms for cross-team alignment.</a:t>
            </a:r>
            <a:endParaRPr sz="950">
              <a:solidFill>
                <a:srgbClr val="94A3B8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09360" y="4608576"/>
            <a:ext cx="512064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ctr"/>
            <a:r>
              <a:rPr sz="1200" b="1">
                <a:solidFill>
                  <a:srgbClr val="38BDF8"/>
                </a:solidFill>
              </a:rPr>
              <a:t>6. Checker Sign-Off
</a:t>
            </a:r>
            <a:endParaRPr sz="1200" b="1">
              <a:solidFill>
                <a:srgbClr val="38BDF8"/>
              </a:solidFill>
            </a:endParaRP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</a:rPr>
              <a:t>Checker supervisor reviews proposed override in Authority Center; approves to commit final settlement.</a:t>
            </a:r>
            <a:endParaRPr sz="95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27627</Words>
  <Application>WPS Presentation</Application>
  <PresentationFormat>On-screen Show (4:3)</PresentationFormat>
  <Paragraphs>500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Kirubel Tadesse</cp:lastModifiedBy>
  <cp:revision>2</cp:revision>
  <dcterms:created xsi:type="dcterms:W3CDTF">2013-01-27T09:14:00Z</dcterms:created>
  <dcterms:modified xsi:type="dcterms:W3CDTF">2026-10-29T11:54:26Z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8E1BA3E835DE4A61BB18153AF9BD72E6_12</vt:lpwstr>
  </property>
  <property fmtid="{D5CDD505-2E9C-101B-9397-08002B2CF9AE}" pid="3" name="KSOProductBuildVer">
    <vt:lpwstr>1033-12.1.0.29162</vt:lpwstr>
  </property>
</Properties>
</file>